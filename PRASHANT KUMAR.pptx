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Poppins" charset="1" panose="00000500000000000000"/>
      <p:regular r:id="rId12"/>
    </p:embeddedFont>
    <p:embeddedFont>
      <p:font typeface="Poppins Bold" charset="1" panose="00000800000000000000"/>
      <p:regular r:id="rId13"/>
    </p:embeddedFont>
    <p:embeddedFont>
      <p:font typeface="Poppins Italics" charset="1" panose="00000500000000000000"/>
      <p:regular r:id="rId14"/>
    </p:embeddedFont>
    <p:embeddedFont>
      <p:font typeface="Agrandir Bold" charset="1" panose="00000800000000000000"/>
      <p:regular r:id="rId15"/>
    </p:embeddedFont>
    <p:embeddedFont>
      <p:font typeface="Heading Now 71-78" charset="1" panose="00000000000000000000"/>
      <p:regular r:id="rId16"/>
    </p:embeddedFont>
    <p:embeddedFont>
      <p:font typeface="Poppins Medium" charset="1" panose="000006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11" Target="../media/image17.png" Type="http://schemas.openxmlformats.org/officeDocument/2006/relationships/image"/><Relationship Id="rId12" Target="../media/image18.svg" Type="http://schemas.openxmlformats.org/officeDocument/2006/relationships/image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986888" y="0"/>
            <a:ext cx="9301112" cy="10287000"/>
            <a:chOff x="0" y="0"/>
            <a:chExt cx="2449676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9676" cy="2709333"/>
            </a:xfrm>
            <a:custGeom>
              <a:avLst/>
              <a:gdLst/>
              <a:ahLst/>
              <a:cxnLst/>
              <a:rect r="r" b="b" t="t" l="l"/>
              <a:pathLst>
                <a:path h="2709333" w="2449676">
                  <a:moveTo>
                    <a:pt x="0" y="0"/>
                  </a:moveTo>
                  <a:lnTo>
                    <a:pt x="2449676" y="0"/>
                  </a:lnTo>
                  <a:lnTo>
                    <a:pt x="244967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A9DFD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449676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022097" y="1584860"/>
            <a:ext cx="6759147" cy="4768501"/>
            <a:chOff x="0" y="0"/>
            <a:chExt cx="1230376" cy="86801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30376" cy="868016"/>
            </a:xfrm>
            <a:custGeom>
              <a:avLst/>
              <a:gdLst/>
              <a:ahLst/>
              <a:cxnLst/>
              <a:rect r="r" b="b" t="t" l="l"/>
              <a:pathLst>
                <a:path h="868016" w="1230376">
                  <a:moveTo>
                    <a:pt x="45816" y="0"/>
                  </a:moveTo>
                  <a:lnTo>
                    <a:pt x="1184560" y="0"/>
                  </a:lnTo>
                  <a:cubicBezTo>
                    <a:pt x="1196712" y="0"/>
                    <a:pt x="1208365" y="4827"/>
                    <a:pt x="1216957" y="13419"/>
                  </a:cubicBezTo>
                  <a:cubicBezTo>
                    <a:pt x="1225549" y="22011"/>
                    <a:pt x="1230376" y="33665"/>
                    <a:pt x="1230376" y="45816"/>
                  </a:cubicBezTo>
                  <a:lnTo>
                    <a:pt x="1230376" y="822200"/>
                  </a:lnTo>
                  <a:cubicBezTo>
                    <a:pt x="1230376" y="834352"/>
                    <a:pt x="1225549" y="846005"/>
                    <a:pt x="1216957" y="854597"/>
                  </a:cubicBezTo>
                  <a:cubicBezTo>
                    <a:pt x="1208365" y="863189"/>
                    <a:pt x="1196712" y="868016"/>
                    <a:pt x="1184560" y="868016"/>
                  </a:cubicBezTo>
                  <a:lnTo>
                    <a:pt x="45816" y="868016"/>
                  </a:lnTo>
                  <a:cubicBezTo>
                    <a:pt x="33665" y="868016"/>
                    <a:pt x="22011" y="863189"/>
                    <a:pt x="13419" y="854597"/>
                  </a:cubicBezTo>
                  <a:cubicBezTo>
                    <a:pt x="4827" y="846005"/>
                    <a:pt x="0" y="834352"/>
                    <a:pt x="0" y="822200"/>
                  </a:cubicBezTo>
                  <a:lnTo>
                    <a:pt x="0" y="45816"/>
                  </a:lnTo>
                  <a:cubicBezTo>
                    <a:pt x="0" y="33665"/>
                    <a:pt x="4827" y="22011"/>
                    <a:pt x="13419" y="13419"/>
                  </a:cubicBezTo>
                  <a:cubicBezTo>
                    <a:pt x="22011" y="4827"/>
                    <a:pt x="33665" y="0"/>
                    <a:pt x="45816" y="0"/>
                  </a:cubicBezTo>
                  <a:close/>
                </a:path>
              </a:pathLst>
            </a:custGeom>
            <a:blipFill>
              <a:blip r:embed="rId2"/>
              <a:stretch>
                <a:fillRect l="-51388" t="-545" r="0" b="-42642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0" y="4642335"/>
            <a:ext cx="5857975" cy="3733511"/>
            <a:chOff x="0" y="0"/>
            <a:chExt cx="1230376" cy="78416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30376" cy="784166"/>
            </a:xfrm>
            <a:custGeom>
              <a:avLst/>
              <a:gdLst/>
              <a:ahLst/>
              <a:cxnLst/>
              <a:rect r="r" b="b" t="t" l="l"/>
              <a:pathLst>
                <a:path h="784166" w="1230376">
                  <a:moveTo>
                    <a:pt x="52864" y="0"/>
                  </a:moveTo>
                  <a:lnTo>
                    <a:pt x="1177512" y="0"/>
                  </a:lnTo>
                  <a:cubicBezTo>
                    <a:pt x="1191533" y="0"/>
                    <a:pt x="1204979" y="5570"/>
                    <a:pt x="1214893" y="15484"/>
                  </a:cubicBezTo>
                  <a:cubicBezTo>
                    <a:pt x="1224807" y="25397"/>
                    <a:pt x="1230376" y="38844"/>
                    <a:pt x="1230376" y="52864"/>
                  </a:cubicBezTo>
                  <a:lnTo>
                    <a:pt x="1230376" y="731302"/>
                  </a:lnTo>
                  <a:cubicBezTo>
                    <a:pt x="1230376" y="745322"/>
                    <a:pt x="1224807" y="758768"/>
                    <a:pt x="1214893" y="768682"/>
                  </a:cubicBezTo>
                  <a:cubicBezTo>
                    <a:pt x="1204979" y="778596"/>
                    <a:pt x="1191533" y="784166"/>
                    <a:pt x="1177512" y="784166"/>
                  </a:cubicBezTo>
                  <a:lnTo>
                    <a:pt x="52864" y="784166"/>
                  </a:lnTo>
                  <a:cubicBezTo>
                    <a:pt x="38844" y="784166"/>
                    <a:pt x="25397" y="778596"/>
                    <a:pt x="15484" y="768682"/>
                  </a:cubicBezTo>
                  <a:cubicBezTo>
                    <a:pt x="5570" y="758768"/>
                    <a:pt x="0" y="745322"/>
                    <a:pt x="0" y="731302"/>
                  </a:cubicBezTo>
                  <a:lnTo>
                    <a:pt x="0" y="52864"/>
                  </a:lnTo>
                  <a:cubicBezTo>
                    <a:pt x="0" y="38844"/>
                    <a:pt x="5570" y="25397"/>
                    <a:pt x="15484" y="15484"/>
                  </a:cubicBezTo>
                  <a:cubicBezTo>
                    <a:pt x="25397" y="5570"/>
                    <a:pt x="38844" y="0"/>
                    <a:pt x="52864" y="0"/>
                  </a:cubicBezTo>
                  <a:close/>
                </a:path>
              </a:pathLst>
            </a:custGeom>
            <a:blipFill>
              <a:blip r:embed="rId2"/>
              <a:stretch>
                <a:fillRect l="-45398" t="-84322" r="-31986" b="-1394"/>
              </a:stretch>
            </a:blipFill>
            <a:ln cap="rnd">
              <a:noFill/>
              <a:prstDash val="solid"/>
              <a:round/>
            </a:ln>
          </p:spPr>
        </p:sp>
      </p:grpSp>
      <p:sp>
        <p:nvSpPr>
          <p:cNvPr name="Freeform 9" id="9"/>
          <p:cNvSpPr/>
          <p:nvPr/>
        </p:nvSpPr>
        <p:spPr>
          <a:xfrm flipH="false" flipV="false" rot="-1055927">
            <a:off x="6873324" y="5865309"/>
            <a:ext cx="552780" cy="573639"/>
          </a:xfrm>
          <a:custGeom>
            <a:avLst/>
            <a:gdLst/>
            <a:ahLst/>
            <a:cxnLst/>
            <a:rect r="r" b="b" t="t" l="l"/>
            <a:pathLst>
              <a:path h="573639" w="552780">
                <a:moveTo>
                  <a:pt x="0" y="0"/>
                </a:moveTo>
                <a:lnTo>
                  <a:pt x="552779" y="0"/>
                </a:lnTo>
                <a:lnTo>
                  <a:pt x="552779" y="573639"/>
                </a:lnTo>
                <a:lnTo>
                  <a:pt x="0" y="5736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055927">
            <a:off x="5675749" y="1330196"/>
            <a:ext cx="490806" cy="509327"/>
          </a:xfrm>
          <a:custGeom>
            <a:avLst/>
            <a:gdLst/>
            <a:ahLst/>
            <a:cxnLst/>
            <a:rect r="r" b="b" t="t" l="l"/>
            <a:pathLst>
              <a:path h="509327" w="490806">
                <a:moveTo>
                  <a:pt x="0" y="0"/>
                </a:moveTo>
                <a:lnTo>
                  <a:pt x="490807" y="0"/>
                </a:lnTo>
                <a:lnTo>
                  <a:pt x="490807" y="509328"/>
                </a:lnTo>
                <a:lnTo>
                  <a:pt x="0" y="50932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375415" y="8670925"/>
            <a:ext cx="4545738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Market analysis Presentation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799540" y="8699696"/>
            <a:ext cx="2639380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Presented By: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44000" y="8680646"/>
            <a:ext cx="6057289" cy="501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2785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PRASHANT KUMAR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75415" y="6985661"/>
            <a:ext cx="5424125" cy="84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694C"/>
                </a:solidFill>
                <a:latin typeface="Poppins"/>
                <a:ea typeface="Poppins"/>
                <a:cs typeface="Poppins"/>
                <a:sym typeface="Poppins"/>
              </a:rPr>
              <a:t>Market Expansion Feasibility Overview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75415" y="2682902"/>
            <a:ext cx="5837562" cy="84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 i="true">
                <a:solidFill>
                  <a:srgbClr val="00694C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Evaluating readiness for sustainable market growth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60908" y="3850796"/>
            <a:ext cx="8143002" cy="1944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b="true">
                <a:solidFill>
                  <a:srgbClr val="00694C"/>
                </a:solidFill>
                <a:latin typeface="Agrandir Bold"/>
                <a:ea typeface="Agrandir Bold"/>
                <a:cs typeface="Agrandir Bold"/>
                <a:sym typeface="Agrandir Bold"/>
              </a:rPr>
              <a:t>Online R</a:t>
            </a:r>
            <a:r>
              <a:rPr lang="en-US" sz="6800" b="true">
                <a:solidFill>
                  <a:srgbClr val="00694C"/>
                </a:solidFill>
                <a:latin typeface="Agrandir Bold"/>
                <a:ea typeface="Agrandir Bold"/>
                <a:cs typeface="Agrandir Bold"/>
                <a:sym typeface="Agrandir Bold"/>
              </a:rPr>
              <a:t>etail Expansion Analysis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724957" y="1950765"/>
            <a:ext cx="675859" cy="675859"/>
          </a:xfrm>
          <a:custGeom>
            <a:avLst/>
            <a:gdLst/>
            <a:ahLst/>
            <a:cxnLst/>
            <a:rect r="r" b="b" t="t" l="l"/>
            <a:pathLst>
              <a:path h="675859" w="675859">
                <a:moveTo>
                  <a:pt x="0" y="0"/>
                </a:moveTo>
                <a:lnTo>
                  <a:pt x="675859" y="0"/>
                </a:lnTo>
                <a:lnTo>
                  <a:pt x="675859" y="675859"/>
                </a:lnTo>
                <a:lnTo>
                  <a:pt x="0" y="6758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55927">
            <a:off x="6873324" y="5865309"/>
            <a:ext cx="552780" cy="573639"/>
          </a:xfrm>
          <a:custGeom>
            <a:avLst/>
            <a:gdLst/>
            <a:ahLst/>
            <a:cxnLst/>
            <a:rect r="r" b="b" t="t" l="l"/>
            <a:pathLst>
              <a:path h="573639" w="552780">
                <a:moveTo>
                  <a:pt x="0" y="0"/>
                </a:moveTo>
                <a:lnTo>
                  <a:pt x="552779" y="0"/>
                </a:lnTo>
                <a:lnTo>
                  <a:pt x="552779" y="573639"/>
                </a:lnTo>
                <a:lnTo>
                  <a:pt x="0" y="5736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55927">
            <a:off x="4139310" y="1379160"/>
            <a:ext cx="490806" cy="509327"/>
          </a:xfrm>
          <a:custGeom>
            <a:avLst/>
            <a:gdLst/>
            <a:ahLst/>
            <a:cxnLst/>
            <a:rect r="r" b="b" t="t" l="l"/>
            <a:pathLst>
              <a:path h="509327" w="490806">
                <a:moveTo>
                  <a:pt x="0" y="0"/>
                </a:moveTo>
                <a:lnTo>
                  <a:pt x="490806" y="0"/>
                </a:lnTo>
                <a:lnTo>
                  <a:pt x="490806" y="509327"/>
                </a:lnTo>
                <a:lnTo>
                  <a:pt x="0" y="5093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55927">
            <a:off x="992058" y="8683299"/>
            <a:ext cx="552780" cy="573639"/>
          </a:xfrm>
          <a:custGeom>
            <a:avLst/>
            <a:gdLst/>
            <a:ahLst/>
            <a:cxnLst/>
            <a:rect r="r" b="b" t="t" l="l"/>
            <a:pathLst>
              <a:path h="573639" w="552780">
                <a:moveTo>
                  <a:pt x="0" y="0"/>
                </a:moveTo>
                <a:lnTo>
                  <a:pt x="552779" y="0"/>
                </a:lnTo>
                <a:lnTo>
                  <a:pt x="552779" y="573639"/>
                </a:lnTo>
                <a:lnTo>
                  <a:pt x="0" y="5736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55927">
            <a:off x="16046390" y="3270026"/>
            <a:ext cx="490806" cy="509327"/>
          </a:xfrm>
          <a:custGeom>
            <a:avLst/>
            <a:gdLst/>
            <a:ahLst/>
            <a:cxnLst/>
            <a:rect r="r" b="b" t="t" l="l"/>
            <a:pathLst>
              <a:path h="509327" w="490806">
                <a:moveTo>
                  <a:pt x="0" y="0"/>
                </a:moveTo>
                <a:lnTo>
                  <a:pt x="490806" y="0"/>
                </a:lnTo>
                <a:lnTo>
                  <a:pt x="490806" y="509327"/>
                </a:lnTo>
                <a:lnTo>
                  <a:pt x="0" y="5093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55927">
            <a:off x="11226609" y="9003636"/>
            <a:ext cx="490806" cy="509327"/>
          </a:xfrm>
          <a:custGeom>
            <a:avLst/>
            <a:gdLst/>
            <a:ahLst/>
            <a:cxnLst/>
            <a:rect r="r" b="b" t="t" l="l"/>
            <a:pathLst>
              <a:path h="509327" w="490806">
                <a:moveTo>
                  <a:pt x="0" y="0"/>
                </a:moveTo>
                <a:lnTo>
                  <a:pt x="490806" y="0"/>
                </a:lnTo>
                <a:lnTo>
                  <a:pt x="490806" y="509328"/>
                </a:lnTo>
                <a:lnTo>
                  <a:pt x="0" y="5093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123839" y="673500"/>
            <a:ext cx="8671370" cy="8940000"/>
          </a:xfrm>
          <a:custGeom>
            <a:avLst/>
            <a:gdLst/>
            <a:ahLst/>
            <a:cxnLst/>
            <a:rect r="r" b="b" t="t" l="l"/>
            <a:pathLst>
              <a:path h="8940000" w="8671370">
                <a:moveTo>
                  <a:pt x="0" y="0"/>
                </a:moveTo>
                <a:lnTo>
                  <a:pt x="8671370" y="0"/>
                </a:lnTo>
                <a:lnTo>
                  <a:pt x="8671370" y="8940000"/>
                </a:lnTo>
                <a:lnTo>
                  <a:pt x="0" y="89400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79405" y="1922190"/>
            <a:ext cx="5921411" cy="1979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 spc="-264">
                <a:solidFill>
                  <a:srgbClr val="00694C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Qu</a:t>
            </a:r>
            <a:r>
              <a:rPr lang="en-US" sz="4800" spc="-264">
                <a:solidFill>
                  <a:srgbClr val="00694C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estion 1: 2011 Monthly Revenue (Line Chart)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038032" y="393033"/>
            <a:ext cx="675859" cy="675859"/>
          </a:xfrm>
          <a:custGeom>
            <a:avLst/>
            <a:gdLst/>
            <a:ahLst/>
            <a:cxnLst/>
            <a:rect r="r" b="b" t="t" l="l"/>
            <a:pathLst>
              <a:path h="675859" w="675859">
                <a:moveTo>
                  <a:pt x="0" y="0"/>
                </a:moveTo>
                <a:lnTo>
                  <a:pt x="675858" y="0"/>
                </a:lnTo>
                <a:lnTo>
                  <a:pt x="675858" y="675858"/>
                </a:lnTo>
                <a:lnTo>
                  <a:pt x="0" y="6758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55927">
            <a:off x="6873324" y="5865309"/>
            <a:ext cx="552780" cy="573639"/>
          </a:xfrm>
          <a:custGeom>
            <a:avLst/>
            <a:gdLst/>
            <a:ahLst/>
            <a:cxnLst/>
            <a:rect r="r" b="b" t="t" l="l"/>
            <a:pathLst>
              <a:path h="573639" w="552780">
                <a:moveTo>
                  <a:pt x="0" y="0"/>
                </a:moveTo>
                <a:lnTo>
                  <a:pt x="552779" y="0"/>
                </a:lnTo>
                <a:lnTo>
                  <a:pt x="552779" y="573639"/>
                </a:lnTo>
                <a:lnTo>
                  <a:pt x="0" y="5736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55927">
            <a:off x="4139310" y="1379160"/>
            <a:ext cx="490806" cy="509327"/>
          </a:xfrm>
          <a:custGeom>
            <a:avLst/>
            <a:gdLst/>
            <a:ahLst/>
            <a:cxnLst/>
            <a:rect r="r" b="b" t="t" l="l"/>
            <a:pathLst>
              <a:path h="509327" w="490806">
                <a:moveTo>
                  <a:pt x="0" y="0"/>
                </a:moveTo>
                <a:lnTo>
                  <a:pt x="490806" y="0"/>
                </a:lnTo>
                <a:lnTo>
                  <a:pt x="490806" y="509327"/>
                </a:lnTo>
                <a:lnTo>
                  <a:pt x="0" y="5093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55927">
            <a:off x="992058" y="8683299"/>
            <a:ext cx="552780" cy="573639"/>
          </a:xfrm>
          <a:custGeom>
            <a:avLst/>
            <a:gdLst/>
            <a:ahLst/>
            <a:cxnLst/>
            <a:rect r="r" b="b" t="t" l="l"/>
            <a:pathLst>
              <a:path h="573639" w="552780">
                <a:moveTo>
                  <a:pt x="0" y="0"/>
                </a:moveTo>
                <a:lnTo>
                  <a:pt x="552779" y="0"/>
                </a:lnTo>
                <a:lnTo>
                  <a:pt x="552779" y="573639"/>
                </a:lnTo>
                <a:lnTo>
                  <a:pt x="0" y="5736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55927">
            <a:off x="16046390" y="3270026"/>
            <a:ext cx="490806" cy="509327"/>
          </a:xfrm>
          <a:custGeom>
            <a:avLst/>
            <a:gdLst/>
            <a:ahLst/>
            <a:cxnLst/>
            <a:rect r="r" b="b" t="t" l="l"/>
            <a:pathLst>
              <a:path h="509327" w="490806">
                <a:moveTo>
                  <a:pt x="0" y="0"/>
                </a:moveTo>
                <a:lnTo>
                  <a:pt x="490806" y="0"/>
                </a:lnTo>
                <a:lnTo>
                  <a:pt x="490806" y="509327"/>
                </a:lnTo>
                <a:lnTo>
                  <a:pt x="0" y="5093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55927">
            <a:off x="11226609" y="9003636"/>
            <a:ext cx="490806" cy="509327"/>
          </a:xfrm>
          <a:custGeom>
            <a:avLst/>
            <a:gdLst/>
            <a:ahLst/>
            <a:cxnLst/>
            <a:rect r="r" b="b" t="t" l="l"/>
            <a:pathLst>
              <a:path h="509327" w="490806">
                <a:moveTo>
                  <a:pt x="0" y="0"/>
                </a:moveTo>
                <a:lnTo>
                  <a:pt x="490806" y="0"/>
                </a:lnTo>
                <a:lnTo>
                  <a:pt x="490806" y="509328"/>
                </a:lnTo>
                <a:lnTo>
                  <a:pt x="0" y="5093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395154" y="2874614"/>
            <a:ext cx="10207555" cy="6896522"/>
          </a:xfrm>
          <a:custGeom>
            <a:avLst/>
            <a:gdLst/>
            <a:ahLst/>
            <a:cxnLst/>
            <a:rect r="r" b="b" t="t" l="l"/>
            <a:pathLst>
              <a:path h="6896522" w="10207555">
                <a:moveTo>
                  <a:pt x="0" y="0"/>
                </a:moveTo>
                <a:lnTo>
                  <a:pt x="10207554" y="0"/>
                </a:lnTo>
                <a:lnTo>
                  <a:pt x="10207554" y="6896522"/>
                </a:lnTo>
                <a:lnTo>
                  <a:pt x="0" y="689652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53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79405" y="364458"/>
            <a:ext cx="6670309" cy="2510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00"/>
              </a:lnSpc>
            </a:pPr>
            <a:r>
              <a:rPr lang="en-US" sz="4700" spc="-258">
                <a:solidFill>
                  <a:srgbClr val="00694C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Qu</a:t>
            </a:r>
            <a:r>
              <a:rPr lang="en-US" sz="4700" spc="-258">
                <a:solidFill>
                  <a:srgbClr val="00694C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estion 2: Top 10 Countries by Revenue &amp; Quantity (Clustered Column Chart)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582926" y="5833232"/>
            <a:ext cx="675859" cy="675859"/>
          </a:xfrm>
          <a:custGeom>
            <a:avLst/>
            <a:gdLst/>
            <a:ahLst/>
            <a:cxnLst/>
            <a:rect r="r" b="b" t="t" l="l"/>
            <a:pathLst>
              <a:path h="675859" w="675859">
                <a:moveTo>
                  <a:pt x="0" y="0"/>
                </a:moveTo>
                <a:lnTo>
                  <a:pt x="675859" y="0"/>
                </a:lnTo>
                <a:lnTo>
                  <a:pt x="675859" y="675858"/>
                </a:lnTo>
                <a:lnTo>
                  <a:pt x="0" y="6758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55927">
            <a:off x="6873324" y="5865309"/>
            <a:ext cx="552780" cy="573639"/>
          </a:xfrm>
          <a:custGeom>
            <a:avLst/>
            <a:gdLst/>
            <a:ahLst/>
            <a:cxnLst/>
            <a:rect r="r" b="b" t="t" l="l"/>
            <a:pathLst>
              <a:path h="573639" w="552780">
                <a:moveTo>
                  <a:pt x="0" y="0"/>
                </a:moveTo>
                <a:lnTo>
                  <a:pt x="552779" y="0"/>
                </a:lnTo>
                <a:lnTo>
                  <a:pt x="552779" y="573639"/>
                </a:lnTo>
                <a:lnTo>
                  <a:pt x="0" y="5736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55927">
            <a:off x="4139310" y="1379160"/>
            <a:ext cx="490806" cy="509327"/>
          </a:xfrm>
          <a:custGeom>
            <a:avLst/>
            <a:gdLst/>
            <a:ahLst/>
            <a:cxnLst/>
            <a:rect r="r" b="b" t="t" l="l"/>
            <a:pathLst>
              <a:path h="509327" w="490806">
                <a:moveTo>
                  <a:pt x="0" y="0"/>
                </a:moveTo>
                <a:lnTo>
                  <a:pt x="490806" y="0"/>
                </a:lnTo>
                <a:lnTo>
                  <a:pt x="490806" y="509327"/>
                </a:lnTo>
                <a:lnTo>
                  <a:pt x="0" y="5093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55927">
            <a:off x="992058" y="8683299"/>
            <a:ext cx="552780" cy="573639"/>
          </a:xfrm>
          <a:custGeom>
            <a:avLst/>
            <a:gdLst/>
            <a:ahLst/>
            <a:cxnLst/>
            <a:rect r="r" b="b" t="t" l="l"/>
            <a:pathLst>
              <a:path h="573639" w="552780">
                <a:moveTo>
                  <a:pt x="0" y="0"/>
                </a:moveTo>
                <a:lnTo>
                  <a:pt x="552779" y="0"/>
                </a:lnTo>
                <a:lnTo>
                  <a:pt x="552779" y="573639"/>
                </a:lnTo>
                <a:lnTo>
                  <a:pt x="0" y="5736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55927">
            <a:off x="16046390" y="3270026"/>
            <a:ext cx="490806" cy="509327"/>
          </a:xfrm>
          <a:custGeom>
            <a:avLst/>
            <a:gdLst/>
            <a:ahLst/>
            <a:cxnLst/>
            <a:rect r="r" b="b" t="t" l="l"/>
            <a:pathLst>
              <a:path h="509327" w="490806">
                <a:moveTo>
                  <a:pt x="0" y="0"/>
                </a:moveTo>
                <a:lnTo>
                  <a:pt x="490806" y="0"/>
                </a:lnTo>
                <a:lnTo>
                  <a:pt x="490806" y="509327"/>
                </a:lnTo>
                <a:lnTo>
                  <a:pt x="0" y="5093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55927">
            <a:off x="11226609" y="9003636"/>
            <a:ext cx="490806" cy="509327"/>
          </a:xfrm>
          <a:custGeom>
            <a:avLst/>
            <a:gdLst/>
            <a:ahLst/>
            <a:cxnLst/>
            <a:rect r="r" b="b" t="t" l="l"/>
            <a:pathLst>
              <a:path h="509327" w="490806">
                <a:moveTo>
                  <a:pt x="0" y="0"/>
                </a:moveTo>
                <a:lnTo>
                  <a:pt x="490806" y="0"/>
                </a:lnTo>
                <a:lnTo>
                  <a:pt x="490806" y="509328"/>
                </a:lnTo>
                <a:lnTo>
                  <a:pt x="0" y="5093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247290" y="474702"/>
            <a:ext cx="7609242" cy="9337595"/>
          </a:xfrm>
          <a:custGeom>
            <a:avLst/>
            <a:gdLst/>
            <a:ahLst/>
            <a:cxnLst/>
            <a:rect r="r" b="b" t="t" l="l"/>
            <a:pathLst>
              <a:path h="9337595" w="7609242">
                <a:moveTo>
                  <a:pt x="0" y="0"/>
                </a:moveTo>
                <a:lnTo>
                  <a:pt x="7609243" y="0"/>
                </a:lnTo>
                <a:lnTo>
                  <a:pt x="7609243" y="9337596"/>
                </a:lnTo>
                <a:lnTo>
                  <a:pt x="0" y="933759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94484" y="3022464"/>
            <a:ext cx="7558627" cy="1919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00"/>
              </a:lnSpc>
            </a:pPr>
            <a:r>
              <a:rPr lang="en-US" sz="4700" spc="-258">
                <a:solidFill>
                  <a:srgbClr val="00694C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Qu</a:t>
            </a:r>
            <a:r>
              <a:rPr lang="en-US" sz="4700" spc="-258">
                <a:solidFill>
                  <a:srgbClr val="00694C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estion 3: Top 10 Customers by Revenue (Sorted Column Chart)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468141" y="641022"/>
            <a:ext cx="675859" cy="675859"/>
          </a:xfrm>
          <a:custGeom>
            <a:avLst/>
            <a:gdLst/>
            <a:ahLst/>
            <a:cxnLst/>
            <a:rect r="r" b="b" t="t" l="l"/>
            <a:pathLst>
              <a:path h="675859" w="675859">
                <a:moveTo>
                  <a:pt x="0" y="0"/>
                </a:moveTo>
                <a:lnTo>
                  <a:pt x="675859" y="0"/>
                </a:lnTo>
                <a:lnTo>
                  <a:pt x="675859" y="675859"/>
                </a:lnTo>
                <a:lnTo>
                  <a:pt x="0" y="6758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55927">
            <a:off x="6873324" y="5865309"/>
            <a:ext cx="552780" cy="573639"/>
          </a:xfrm>
          <a:custGeom>
            <a:avLst/>
            <a:gdLst/>
            <a:ahLst/>
            <a:cxnLst/>
            <a:rect r="r" b="b" t="t" l="l"/>
            <a:pathLst>
              <a:path h="573639" w="552780">
                <a:moveTo>
                  <a:pt x="0" y="0"/>
                </a:moveTo>
                <a:lnTo>
                  <a:pt x="552779" y="0"/>
                </a:lnTo>
                <a:lnTo>
                  <a:pt x="552779" y="573639"/>
                </a:lnTo>
                <a:lnTo>
                  <a:pt x="0" y="5736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55927">
            <a:off x="4139310" y="1379160"/>
            <a:ext cx="490806" cy="509327"/>
          </a:xfrm>
          <a:custGeom>
            <a:avLst/>
            <a:gdLst/>
            <a:ahLst/>
            <a:cxnLst/>
            <a:rect r="r" b="b" t="t" l="l"/>
            <a:pathLst>
              <a:path h="509327" w="490806">
                <a:moveTo>
                  <a:pt x="0" y="0"/>
                </a:moveTo>
                <a:lnTo>
                  <a:pt x="490806" y="0"/>
                </a:lnTo>
                <a:lnTo>
                  <a:pt x="490806" y="509327"/>
                </a:lnTo>
                <a:lnTo>
                  <a:pt x="0" y="5093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55927">
            <a:off x="992058" y="8683299"/>
            <a:ext cx="552780" cy="573639"/>
          </a:xfrm>
          <a:custGeom>
            <a:avLst/>
            <a:gdLst/>
            <a:ahLst/>
            <a:cxnLst/>
            <a:rect r="r" b="b" t="t" l="l"/>
            <a:pathLst>
              <a:path h="573639" w="552780">
                <a:moveTo>
                  <a:pt x="0" y="0"/>
                </a:moveTo>
                <a:lnTo>
                  <a:pt x="552779" y="0"/>
                </a:lnTo>
                <a:lnTo>
                  <a:pt x="552779" y="573639"/>
                </a:lnTo>
                <a:lnTo>
                  <a:pt x="0" y="5736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55927">
            <a:off x="16046390" y="3270026"/>
            <a:ext cx="490806" cy="509327"/>
          </a:xfrm>
          <a:custGeom>
            <a:avLst/>
            <a:gdLst/>
            <a:ahLst/>
            <a:cxnLst/>
            <a:rect r="r" b="b" t="t" l="l"/>
            <a:pathLst>
              <a:path h="509327" w="490806">
                <a:moveTo>
                  <a:pt x="0" y="0"/>
                </a:moveTo>
                <a:lnTo>
                  <a:pt x="490806" y="0"/>
                </a:lnTo>
                <a:lnTo>
                  <a:pt x="490806" y="509327"/>
                </a:lnTo>
                <a:lnTo>
                  <a:pt x="0" y="5093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55927">
            <a:off x="11226609" y="9003636"/>
            <a:ext cx="490806" cy="509327"/>
          </a:xfrm>
          <a:custGeom>
            <a:avLst/>
            <a:gdLst/>
            <a:ahLst/>
            <a:cxnLst/>
            <a:rect r="r" b="b" t="t" l="l"/>
            <a:pathLst>
              <a:path h="509327" w="490806">
                <a:moveTo>
                  <a:pt x="0" y="0"/>
                </a:moveTo>
                <a:lnTo>
                  <a:pt x="490806" y="0"/>
                </a:lnTo>
                <a:lnTo>
                  <a:pt x="490806" y="509328"/>
                </a:lnTo>
                <a:lnTo>
                  <a:pt x="0" y="5093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931753" y="2261639"/>
            <a:ext cx="13748635" cy="7780979"/>
          </a:xfrm>
          <a:custGeom>
            <a:avLst/>
            <a:gdLst/>
            <a:ahLst/>
            <a:cxnLst/>
            <a:rect r="r" b="b" t="t" l="l"/>
            <a:pathLst>
              <a:path h="7780979" w="13748635">
                <a:moveTo>
                  <a:pt x="0" y="0"/>
                </a:moveTo>
                <a:lnTo>
                  <a:pt x="13748635" y="0"/>
                </a:lnTo>
                <a:lnTo>
                  <a:pt x="13748635" y="7780979"/>
                </a:lnTo>
                <a:lnTo>
                  <a:pt x="0" y="778097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94484" y="446127"/>
            <a:ext cx="7558627" cy="1329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00"/>
              </a:lnSpc>
            </a:pPr>
            <a:r>
              <a:rPr lang="en-US" sz="4700" spc="-258">
                <a:solidFill>
                  <a:srgbClr val="00694C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Qu</a:t>
            </a:r>
            <a:r>
              <a:rPr lang="en-US" sz="4700" spc="-258">
                <a:solidFill>
                  <a:srgbClr val="00694C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estion 4: Global Demand Map (Filled Map)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928761" y="2471333"/>
            <a:ext cx="6668259" cy="5344334"/>
            <a:chOff x="0" y="0"/>
            <a:chExt cx="1756249" cy="140756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56249" cy="1407561"/>
            </a:xfrm>
            <a:custGeom>
              <a:avLst/>
              <a:gdLst/>
              <a:ahLst/>
              <a:cxnLst/>
              <a:rect r="r" b="b" t="t" l="l"/>
              <a:pathLst>
                <a:path h="1407561" w="1756249">
                  <a:moveTo>
                    <a:pt x="59212" y="0"/>
                  </a:moveTo>
                  <a:lnTo>
                    <a:pt x="1697038" y="0"/>
                  </a:lnTo>
                  <a:cubicBezTo>
                    <a:pt x="1729739" y="0"/>
                    <a:pt x="1756249" y="26510"/>
                    <a:pt x="1756249" y="59212"/>
                  </a:cubicBezTo>
                  <a:lnTo>
                    <a:pt x="1756249" y="1348350"/>
                  </a:lnTo>
                  <a:cubicBezTo>
                    <a:pt x="1756249" y="1381051"/>
                    <a:pt x="1729739" y="1407561"/>
                    <a:pt x="1697038" y="1407561"/>
                  </a:cubicBezTo>
                  <a:lnTo>
                    <a:pt x="59212" y="1407561"/>
                  </a:lnTo>
                  <a:cubicBezTo>
                    <a:pt x="26510" y="1407561"/>
                    <a:pt x="0" y="1381051"/>
                    <a:pt x="0" y="1348350"/>
                  </a:cubicBezTo>
                  <a:lnTo>
                    <a:pt x="0" y="59212"/>
                  </a:lnTo>
                  <a:cubicBezTo>
                    <a:pt x="0" y="26510"/>
                    <a:pt x="26510" y="0"/>
                    <a:pt x="59212" y="0"/>
                  </a:cubicBezTo>
                  <a:close/>
                </a:path>
              </a:pathLst>
            </a:custGeom>
            <a:solidFill>
              <a:srgbClr val="A9DFD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756249" cy="14551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9290586" cy="10287000"/>
            <a:chOff x="0" y="0"/>
            <a:chExt cx="2446903" cy="27093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46903" cy="2709333"/>
            </a:xfrm>
            <a:custGeom>
              <a:avLst/>
              <a:gdLst/>
              <a:ahLst/>
              <a:cxnLst/>
              <a:rect r="r" b="b" t="t" l="l"/>
              <a:pathLst>
                <a:path h="2709333" w="2446903">
                  <a:moveTo>
                    <a:pt x="0" y="0"/>
                  </a:moveTo>
                  <a:lnTo>
                    <a:pt x="2446903" y="0"/>
                  </a:lnTo>
                  <a:lnTo>
                    <a:pt x="244690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A9DFD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446903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90980" y="2471333"/>
            <a:ext cx="7799503" cy="5344334"/>
            <a:chOff x="0" y="0"/>
            <a:chExt cx="1321798" cy="90571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21798" cy="905715"/>
            </a:xfrm>
            <a:custGeom>
              <a:avLst/>
              <a:gdLst/>
              <a:ahLst/>
              <a:cxnLst/>
              <a:rect r="r" b="b" t="t" l="l"/>
              <a:pathLst>
                <a:path h="905715" w="1321798">
                  <a:moveTo>
                    <a:pt x="43675" y="0"/>
                  </a:moveTo>
                  <a:lnTo>
                    <a:pt x="1278123" y="0"/>
                  </a:lnTo>
                  <a:cubicBezTo>
                    <a:pt x="1302244" y="0"/>
                    <a:pt x="1321798" y="19554"/>
                    <a:pt x="1321798" y="43675"/>
                  </a:cubicBezTo>
                  <a:lnTo>
                    <a:pt x="1321798" y="862040"/>
                  </a:lnTo>
                  <a:cubicBezTo>
                    <a:pt x="1321798" y="886161"/>
                    <a:pt x="1302244" y="905715"/>
                    <a:pt x="1278123" y="905715"/>
                  </a:cubicBezTo>
                  <a:lnTo>
                    <a:pt x="43675" y="905715"/>
                  </a:lnTo>
                  <a:cubicBezTo>
                    <a:pt x="19554" y="905715"/>
                    <a:pt x="0" y="886161"/>
                    <a:pt x="0" y="862040"/>
                  </a:cubicBezTo>
                  <a:lnTo>
                    <a:pt x="0" y="43675"/>
                  </a:lnTo>
                  <a:cubicBezTo>
                    <a:pt x="0" y="19554"/>
                    <a:pt x="19554" y="0"/>
                    <a:pt x="43675" y="0"/>
                  </a:cubicBezTo>
                  <a:close/>
                </a:path>
              </a:pathLst>
            </a:custGeom>
            <a:solidFill>
              <a:srgbClr val="FBF6F1"/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-1055927">
            <a:off x="12208653" y="9128437"/>
            <a:ext cx="552780" cy="573639"/>
          </a:xfrm>
          <a:custGeom>
            <a:avLst/>
            <a:gdLst/>
            <a:ahLst/>
            <a:cxnLst/>
            <a:rect r="r" b="b" t="t" l="l"/>
            <a:pathLst>
              <a:path h="573639" w="552780">
                <a:moveTo>
                  <a:pt x="0" y="0"/>
                </a:moveTo>
                <a:lnTo>
                  <a:pt x="552779" y="0"/>
                </a:lnTo>
                <a:lnTo>
                  <a:pt x="552779" y="573640"/>
                </a:lnTo>
                <a:lnTo>
                  <a:pt x="0" y="5736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55927">
            <a:off x="10944126" y="1394902"/>
            <a:ext cx="490806" cy="509327"/>
          </a:xfrm>
          <a:custGeom>
            <a:avLst/>
            <a:gdLst/>
            <a:ahLst/>
            <a:cxnLst/>
            <a:rect r="r" b="b" t="t" l="l"/>
            <a:pathLst>
              <a:path h="509327" w="490806">
                <a:moveTo>
                  <a:pt x="0" y="0"/>
                </a:moveTo>
                <a:lnTo>
                  <a:pt x="490807" y="0"/>
                </a:lnTo>
                <a:lnTo>
                  <a:pt x="490807" y="509327"/>
                </a:lnTo>
                <a:lnTo>
                  <a:pt x="0" y="5093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1055927">
            <a:off x="6807398" y="8262754"/>
            <a:ext cx="683087" cy="708864"/>
          </a:xfrm>
          <a:custGeom>
            <a:avLst/>
            <a:gdLst/>
            <a:ahLst/>
            <a:cxnLst/>
            <a:rect r="r" b="b" t="t" l="l"/>
            <a:pathLst>
              <a:path h="708864" w="683087">
                <a:moveTo>
                  <a:pt x="0" y="0"/>
                </a:moveTo>
                <a:lnTo>
                  <a:pt x="683087" y="0"/>
                </a:lnTo>
                <a:lnTo>
                  <a:pt x="683087" y="708864"/>
                </a:lnTo>
                <a:lnTo>
                  <a:pt x="0" y="7088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1055927">
            <a:off x="4803751" y="1005784"/>
            <a:ext cx="552780" cy="573639"/>
          </a:xfrm>
          <a:custGeom>
            <a:avLst/>
            <a:gdLst/>
            <a:ahLst/>
            <a:cxnLst/>
            <a:rect r="r" b="b" t="t" l="l"/>
            <a:pathLst>
              <a:path h="573639" w="552780">
                <a:moveTo>
                  <a:pt x="0" y="0"/>
                </a:moveTo>
                <a:lnTo>
                  <a:pt x="552779" y="0"/>
                </a:lnTo>
                <a:lnTo>
                  <a:pt x="552779" y="573639"/>
                </a:lnTo>
                <a:lnTo>
                  <a:pt x="0" y="5736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1055927">
            <a:off x="17013897" y="4571894"/>
            <a:ext cx="490806" cy="509327"/>
          </a:xfrm>
          <a:custGeom>
            <a:avLst/>
            <a:gdLst/>
            <a:ahLst/>
            <a:cxnLst/>
            <a:rect r="r" b="b" t="t" l="l"/>
            <a:pathLst>
              <a:path h="509327" w="490806">
                <a:moveTo>
                  <a:pt x="0" y="0"/>
                </a:moveTo>
                <a:lnTo>
                  <a:pt x="490806" y="0"/>
                </a:lnTo>
                <a:lnTo>
                  <a:pt x="490806" y="509327"/>
                </a:lnTo>
                <a:lnTo>
                  <a:pt x="0" y="5093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1055927">
            <a:off x="687157" y="7227928"/>
            <a:ext cx="683087" cy="708864"/>
          </a:xfrm>
          <a:custGeom>
            <a:avLst/>
            <a:gdLst/>
            <a:ahLst/>
            <a:cxnLst/>
            <a:rect r="r" b="b" t="t" l="l"/>
            <a:pathLst>
              <a:path h="708864" w="683087">
                <a:moveTo>
                  <a:pt x="0" y="0"/>
                </a:moveTo>
                <a:lnTo>
                  <a:pt x="683086" y="0"/>
                </a:lnTo>
                <a:lnTo>
                  <a:pt x="683086" y="708864"/>
                </a:lnTo>
                <a:lnTo>
                  <a:pt x="0" y="7088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2437330" y="2411397"/>
            <a:ext cx="6519881" cy="5404270"/>
          </a:xfrm>
          <a:custGeom>
            <a:avLst/>
            <a:gdLst/>
            <a:ahLst/>
            <a:cxnLst/>
            <a:rect r="r" b="b" t="t" l="l"/>
            <a:pathLst>
              <a:path h="5404270" w="6519881">
                <a:moveTo>
                  <a:pt x="0" y="0"/>
                </a:moveTo>
                <a:lnTo>
                  <a:pt x="6519881" y="0"/>
                </a:lnTo>
                <a:lnTo>
                  <a:pt x="6519881" y="5404270"/>
                </a:lnTo>
                <a:lnTo>
                  <a:pt x="0" y="540427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-1998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0713247" y="5519273"/>
            <a:ext cx="351292" cy="351292"/>
          </a:xfrm>
          <a:custGeom>
            <a:avLst/>
            <a:gdLst/>
            <a:ahLst/>
            <a:cxnLst/>
            <a:rect r="r" b="b" t="t" l="l"/>
            <a:pathLst>
              <a:path h="351292" w="351292">
                <a:moveTo>
                  <a:pt x="0" y="0"/>
                </a:moveTo>
                <a:lnTo>
                  <a:pt x="351292" y="0"/>
                </a:lnTo>
                <a:lnTo>
                  <a:pt x="351292" y="351291"/>
                </a:lnTo>
                <a:lnTo>
                  <a:pt x="0" y="35129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0748225" y="6296471"/>
            <a:ext cx="281337" cy="200005"/>
          </a:xfrm>
          <a:custGeom>
            <a:avLst/>
            <a:gdLst/>
            <a:ahLst/>
            <a:cxnLst/>
            <a:rect r="r" b="b" t="t" l="l"/>
            <a:pathLst>
              <a:path h="200005" w="281337">
                <a:moveTo>
                  <a:pt x="0" y="0"/>
                </a:moveTo>
                <a:lnTo>
                  <a:pt x="281337" y="0"/>
                </a:lnTo>
                <a:lnTo>
                  <a:pt x="281337" y="200005"/>
                </a:lnTo>
                <a:lnTo>
                  <a:pt x="0" y="20000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0733257" y="6906256"/>
            <a:ext cx="311273" cy="265431"/>
          </a:xfrm>
          <a:custGeom>
            <a:avLst/>
            <a:gdLst/>
            <a:ahLst/>
            <a:cxnLst/>
            <a:rect r="r" b="b" t="t" l="l"/>
            <a:pathLst>
              <a:path h="265431" w="311273">
                <a:moveTo>
                  <a:pt x="0" y="0"/>
                </a:moveTo>
                <a:lnTo>
                  <a:pt x="311273" y="0"/>
                </a:lnTo>
                <a:lnTo>
                  <a:pt x="311273" y="265431"/>
                </a:lnTo>
                <a:lnTo>
                  <a:pt x="0" y="26543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0713247" y="3089904"/>
            <a:ext cx="5265184" cy="1925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spc="-374">
                <a:solidFill>
                  <a:srgbClr val="0B0A0A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Thank you so much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161527" y="6071572"/>
            <a:ext cx="5435492" cy="424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3355"/>
              </a:lnSpc>
              <a:spcBef>
                <a:spcPct val="0"/>
              </a:spcBef>
            </a:pPr>
            <a:r>
              <a:rPr lang="en-US" b="true" sz="2396">
                <a:solidFill>
                  <a:srgbClr val="0B0A0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prashantkumar26664@gmail.com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161527" y="5452598"/>
            <a:ext cx="2496651" cy="424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3355"/>
              </a:lnSpc>
              <a:spcBef>
                <a:spcPct val="0"/>
              </a:spcBef>
            </a:pPr>
            <a:r>
              <a:rPr lang="en-US" b="true" sz="2396">
                <a:solidFill>
                  <a:srgbClr val="0B0A0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+91 8941863821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189529" y="6716347"/>
            <a:ext cx="4636463" cy="844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3355"/>
              </a:lnSpc>
              <a:spcBef>
                <a:spcPct val="0"/>
              </a:spcBef>
            </a:pPr>
            <a:r>
              <a:rPr lang="en-US" b="true" sz="2396">
                <a:solidFill>
                  <a:srgbClr val="0B0A0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https://www.linkedin.com/in/prashantkumar034/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DAHC3Lfv9M0</dc:identifier>
  <dcterms:modified xsi:type="dcterms:W3CDTF">2011-08-01T06:04:30Z</dcterms:modified>
  <cp:revision>1</cp:revision>
  <dc:title>PRASHANT KUMAR</dc:title>
</cp:coreProperties>
</file>